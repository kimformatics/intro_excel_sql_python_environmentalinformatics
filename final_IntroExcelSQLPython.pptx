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73" r:id="rId3"/>
    <p:sldId id="257" r:id="rId4"/>
    <p:sldId id="258" r:id="rId5"/>
    <p:sldId id="259" r:id="rId6"/>
    <p:sldId id="275" r:id="rId7"/>
    <p:sldId id="263" r:id="rId8"/>
    <p:sldId id="276" r:id="rId9"/>
    <p:sldId id="266" r:id="rId10"/>
    <p:sldId id="277" r:id="rId11"/>
    <p:sldId id="272" r:id="rId12"/>
    <p:sldId id="274" r:id="rId13"/>
    <p:sldId id="27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755"/>
    <p:restoredTop sz="77994"/>
  </p:normalViewPr>
  <p:slideViewPr>
    <p:cSldViewPr snapToGrid="0" snapToObjects="1">
      <p:cViewPr varScale="1">
        <p:scale>
          <a:sx n="128" d="100"/>
          <a:sy n="128" d="100"/>
        </p:scale>
        <p:origin x="7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9616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A22EC-BF53-CE0A-46EA-F73C88CD4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5DFCB6-8D36-0DD6-3CCF-D40D9CD6C9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782E5A-53D1-8549-AFB2-B83D02F4EC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F25599-5431-1E38-A7C7-E6B69BAFE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826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E5776-C7F3-6818-1C9C-A9D1694CB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6441DA-8F1F-D4B1-A427-D4D46FDC50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413A84-1BF2-CD1A-6A1E-49FF30721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7DBC98-C06D-A559-B144-345B6F4AA9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8447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252F3-A227-BD0C-02FE-E08517375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A30EB3-95BB-10BE-0684-A9D0B2E938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EAFA51-4EA6-4EF5-9980-A99B0A3F0E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59FBC-3A5A-76D2-E022-374A3D3EFD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1363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9C16B-CEF3-CB09-A8E3-55ECBCD81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97ED16-3BD3-0D01-6FD9-660E1EA567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3D3784-83D0-9784-A799-CE6047767E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018EC8-4420-F528-B582-C48B5A2DC6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7932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1C544-19DB-F99D-D1B9-B812D4A43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BC7062-5DB4-92F5-ABF9-FEF9D10E2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35340F-6473-BEEA-EF03-7D3CF94958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6CB60E-C09C-EA64-9533-BB762DC325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0044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A1309-96B0-894F-2CB8-BB77BE680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173C78-D9C0-8DE9-49E2-796C06401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EBE3E7-4298-0423-F919-01513805A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4D9DB0-D9E8-83F4-1679-1E4F483AC3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4695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4864"/>
            <a:ext cx="54864" cy="5088636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199" y="731520"/>
            <a:ext cx="756138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 to Excel,</a:t>
            </a:r>
            <a:endParaRPr lang="en-US" sz="4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 &amp; Python for Environmental Informatics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301752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1.5-Hour Hands-On, Live Coding Workshop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429000"/>
            <a:ext cx="5704114" cy="9829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Kimberly Deas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cs typeface="Calibri" pitchFamily="34" charset="-120"/>
              </a:rPr>
              <a:t>Postdoctoral Fellow, Data Science and Analytics, Earth, Environment and Equity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cs typeface="Calibri" pitchFamily="34" charset="-120"/>
              </a:rPr>
              <a:t>Principal Informaticist, AIAD Consulting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cs typeface="Calibri" pitchFamily="34" charset="-120"/>
              </a:rPr>
              <a:t>MS Environmental Engineering student, Johns Hopkins University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D41C60-A736-7B62-B480-440F9994D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31A829A-57F4-B398-7191-F56F56557B9F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C696ABA-37B2-BA0D-57E5-8DCD0B93E478}"/>
              </a:ext>
            </a:extLst>
          </p:cNvPr>
          <p:cNvSpPr/>
          <p:nvPr/>
        </p:nvSpPr>
        <p:spPr>
          <a:xfrm>
            <a:off x="0" y="54864"/>
            <a:ext cx="54864" cy="5088636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471C9FD-9B41-9AB2-B57B-65478B36D00D}"/>
              </a:ext>
            </a:extLst>
          </p:cNvPr>
          <p:cNvSpPr/>
          <p:nvPr/>
        </p:nvSpPr>
        <p:spPr>
          <a:xfrm>
            <a:off x="406994" y="1991780"/>
            <a:ext cx="2196047" cy="6074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Alabama NO2 Air Quality Dataset  ·  2024</a:t>
            </a:r>
            <a:endParaRPr lang="en-US" sz="16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2351904-CC58-E72D-5F86-E902060F7860}"/>
              </a:ext>
            </a:extLst>
          </p:cNvPr>
          <p:cNvSpPr/>
          <p:nvPr/>
        </p:nvSpPr>
        <p:spPr>
          <a:xfrm>
            <a:off x="2832641" y="669798"/>
            <a:ext cx="3315661" cy="3803904"/>
          </a:xfrm>
          <a:prstGeom prst="rect">
            <a:avLst/>
          </a:prstGeom>
          <a:solidFill>
            <a:srgbClr val="1A2B40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8E91561-C604-7837-3066-727DEB28B739}"/>
              </a:ext>
            </a:extLst>
          </p:cNvPr>
          <p:cNvSpPr/>
          <p:nvPr/>
        </p:nvSpPr>
        <p:spPr>
          <a:xfrm>
            <a:off x="3210312" y="944921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488</a:t>
            </a:r>
            <a:endParaRPr lang="en-US" sz="3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31A8D86-93EE-E177-9C99-88F9DF3EC770}"/>
              </a:ext>
            </a:extLst>
          </p:cNvPr>
          <p:cNvSpPr/>
          <p:nvPr/>
        </p:nvSpPr>
        <p:spPr>
          <a:xfrm>
            <a:off x="3291840" y="144651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Observations</a:t>
            </a:r>
            <a:endParaRPr lang="en-US" sz="10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B648DFC-2CA0-603B-F915-AD5151351E49}"/>
              </a:ext>
            </a:extLst>
          </p:cNvPr>
          <p:cNvSpPr/>
          <p:nvPr/>
        </p:nvSpPr>
        <p:spPr>
          <a:xfrm>
            <a:off x="3291840" y="1718399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2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6147F92-FF74-4664-94C1-F5E83300C90A}"/>
              </a:ext>
            </a:extLst>
          </p:cNvPr>
          <p:cNvSpPr/>
          <p:nvPr/>
        </p:nvSpPr>
        <p:spPr>
          <a:xfrm>
            <a:off x="3291840" y="2216747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Sites</a:t>
            </a:r>
            <a:endParaRPr lang="en-US" sz="10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AA46A2A-13F1-92E3-D3E2-4076F4DF9DEA}"/>
              </a:ext>
            </a:extLst>
          </p:cNvPr>
          <p:cNvSpPr/>
          <p:nvPr/>
        </p:nvSpPr>
        <p:spPr>
          <a:xfrm>
            <a:off x="3291840" y="2585793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21</a:t>
            </a:r>
            <a:endParaRPr lang="en-US" sz="32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42D17524-B480-3A91-04D1-47B3F08ACF99}"/>
              </a:ext>
            </a:extLst>
          </p:cNvPr>
          <p:cNvSpPr/>
          <p:nvPr/>
        </p:nvSpPr>
        <p:spPr>
          <a:xfrm>
            <a:off x="3291840" y="3169131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Columns</a:t>
            </a:r>
            <a:endParaRPr lang="en-US" sz="10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1F1FDD4-AED0-CECB-F576-119DDDC438E2}"/>
              </a:ext>
            </a:extLst>
          </p:cNvPr>
          <p:cNvSpPr/>
          <p:nvPr/>
        </p:nvSpPr>
        <p:spPr>
          <a:xfrm>
            <a:off x="3291840" y="3480027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53</a:t>
            </a:r>
            <a:endParaRPr lang="en-US" sz="32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2F7CA55-B8FA-402A-09C5-A8798BCE68F1}"/>
              </a:ext>
            </a:extLst>
          </p:cNvPr>
          <p:cNvSpPr/>
          <p:nvPr/>
        </p:nvSpPr>
        <p:spPr>
          <a:xfrm>
            <a:off x="3291840" y="40277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ppb NAAQS Limit</a:t>
            </a:r>
            <a:endParaRPr lang="en-US" sz="10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5F216D33-DD6A-8455-B6EB-946E03AE9B86}"/>
              </a:ext>
            </a:extLst>
          </p:cNvPr>
          <p:cNvSpPr/>
          <p:nvPr/>
        </p:nvSpPr>
        <p:spPr>
          <a:xfrm>
            <a:off x="6607501" y="1883665"/>
            <a:ext cx="1959429" cy="9466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</a:rPr>
              <a:t>Jefferson County, Alabama  ·  Jan – Sep 2024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40292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73736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Workshop 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188720"/>
            <a:ext cx="2651760" cy="3566160"/>
          </a:xfrm>
          <a:prstGeom prst="rect">
            <a:avLst/>
          </a:prstGeom>
          <a:solidFill>
            <a:srgbClr val="1A2B40"/>
          </a:solidFill>
          <a:ln w="190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2651760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29844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2212848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&amp; orient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615184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+ format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017520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/ MIN / MAX / COUNTIF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419856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 table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822192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0" y="1188720"/>
            <a:ext cx="2651760" cy="3566160"/>
          </a:xfrm>
          <a:prstGeom prst="rect">
            <a:avLst/>
          </a:prstGeom>
          <a:solidFill>
            <a:srgbClr val="1A2B40"/>
          </a:solidFill>
          <a:ln w="19050">
            <a:solidFill>
              <a:srgbClr val="4E9A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0" y="1188720"/>
            <a:ext cx="2651760" cy="73152"/>
          </a:xfrm>
          <a:prstGeom prst="rect">
            <a:avLst/>
          </a:prstGeom>
          <a:solidFill>
            <a:srgbClr val="4E9AF1"/>
          </a:solidFill>
          <a:ln w="12700">
            <a:solidFill>
              <a:srgbClr val="4E9A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337560" y="129844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9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37560" y="148132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3337560" y="2212848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9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basics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37560" y="2615184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9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+ ORDER BY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37560" y="3017520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9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+ aggregates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37560" y="3419856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9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functions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337560" y="3822192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E9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80760" y="1188720"/>
            <a:ext cx="2651760" cy="3566160"/>
          </a:xfrm>
          <a:prstGeom prst="rect">
            <a:avLst/>
          </a:prstGeom>
          <a:solidFill>
            <a:srgbClr val="1A2B40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080760" y="1188720"/>
            <a:ext cx="265176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217920" y="129844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17920" y="148132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217920" y="2212848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&amp; inspect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17920" y="2615184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17920" y="3017520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plot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217920" y="3419856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217920" y="3822192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+ correlation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906" y="146304"/>
            <a:ext cx="9144000" cy="100584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Dataset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84607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Alabama NO2 Air Quality  ·  EPA AQS  ·  2024</a:t>
            </a:r>
          </a:p>
          <a:p>
            <a:r>
              <a:rPr lang="en-US" sz="1600" dirty="0">
                <a:solidFill>
                  <a:schemeClr val="bg2"/>
                </a:solidFill>
              </a:rPr>
              <a:t>https://</a:t>
            </a:r>
            <a:r>
              <a:rPr lang="en-US" sz="1600" dirty="0" err="1">
                <a:solidFill>
                  <a:schemeClr val="bg2"/>
                </a:solidFill>
              </a:rPr>
              <a:t>www.epa.gov</a:t>
            </a:r>
            <a:r>
              <a:rPr lang="en-US" sz="1600" dirty="0">
                <a:solidFill>
                  <a:schemeClr val="bg2"/>
                </a:solidFill>
              </a:rPr>
              <a:t>/</a:t>
            </a:r>
            <a:r>
              <a:rPr lang="en-US" sz="1600" dirty="0" err="1">
                <a:solidFill>
                  <a:schemeClr val="bg2"/>
                </a:solidFill>
              </a:rPr>
              <a:t>aqs</a:t>
            </a:r>
            <a:r>
              <a:rPr lang="en-US" sz="1600" dirty="0">
                <a:solidFill>
                  <a:schemeClr val="bg2"/>
                </a:solidFill>
              </a:rPr>
              <a:t>/obtaining-</a:t>
            </a:r>
            <a:r>
              <a:rPr lang="en-US" sz="1600" dirty="0" err="1">
                <a:solidFill>
                  <a:schemeClr val="bg2"/>
                </a:solidFill>
              </a:rPr>
              <a:t>aqs</a:t>
            </a:r>
            <a:r>
              <a:rPr lang="en-US" sz="1600" dirty="0">
                <a:solidFill>
                  <a:schemeClr val="bg2"/>
                </a:solidFill>
              </a:rPr>
              <a:t>-data</a:t>
            </a:r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54864" cy="493776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225296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520440" y="1225296"/>
            <a:ext cx="5120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date (Jan 1 – Sep 9, 2024)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755648"/>
            <a:ext cx="8412480" cy="493776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1755648"/>
            <a:ext cx="54864" cy="493776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1792224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Max NO2 Concentration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20440" y="1792224"/>
            <a:ext cx="5120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of our main variable — parts per billion (ppb)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322576"/>
            <a:ext cx="841248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65760" y="2322576"/>
            <a:ext cx="54864" cy="493776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2920" y="2359152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AQI Value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520440" y="2359152"/>
            <a:ext cx="5120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Quality Index calculated from the NO2 reading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2889504"/>
            <a:ext cx="8412480" cy="493776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2889504"/>
            <a:ext cx="54864" cy="493776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2920" y="29260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Site Name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520440" y="2926080"/>
            <a:ext cx="5120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Birmingham  or  Arkadelphia/Near Road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456432"/>
            <a:ext cx="841248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65760" y="3456432"/>
            <a:ext cx="54864" cy="493776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2920" y="3493008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20440" y="3493008"/>
            <a:ext cx="5120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Jefferson County (all 488 records)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527893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010326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Excel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457200" y="2224279"/>
            <a:ext cx="6400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Open &amp; orient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Freeze panes &amp; format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Summary stats (AVERAGE, MIN, MAX, COUNTIF)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Pivot table — compare sites, seasons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Line chart — NO2 over time</a:t>
            </a:r>
          </a:p>
          <a:p>
            <a:pPr>
              <a:lnSpc>
                <a:spcPct val="150000"/>
              </a:lnSpc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Dashboard – 4 images</a:t>
            </a:r>
          </a:p>
          <a:p>
            <a:pPr marL="0" indent="0">
              <a:lnSpc>
                <a:spcPct val="150000"/>
              </a:lnSpc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CE2519-0775-74F6-4195-D014DF058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20D37E2-A150-F78F-F9F1-D5DC5B7B9C1B}"/>
              </a:ext>
            </a:extLst>
          </p:cNvPr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B915DAA-47A6-0A0C-A828-D8927A42007B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5980B76-F213-6835-00DE-42FAA50310BE}"/>
              </a:ext>
            </a:extLst>
          </p:cNvPr>
          <p:cNvSpPr/>
          <p:nvPr/>
        </p:nvSpPr>
        <p:spPr>
          <a:xfrm>
            <a:off x="2117035" y="1730501"/>
            <a:ext cx="490993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Code in…</a:t>
            </a:r>
            <a:endParaRPr lang="en-US" sz="6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A21DB06-E2DA-A08A-93C6-ADAE6CC0A4A7}"/>
              </a:ext>
            </a:extLst>
          </p:cNvPr>
          <p:cNvSpPr/>
          <p:nvPr/>
        </p:nvSpPr>
        <p:spPr>
          <a:xfrm>
            <a:off x="3066420" y="2674618"/>
            <a:ext cx="3120887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Excel!!</a:t>
            </a:r>
            <a:endParaRPr lang="en-US" sz="64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CD3526E-276D-6919-E004-DADCA1029EA2}"/>
              </a:ext>
            </a:extLst>
          </p:cNvPr>
          <p:cNvSpPr/>
          <p:nvPr/>
        </p:nvSpPr>
        <p:spPr>
          <a:xfrm>
            <a:off x="457200" y="2224279"/>
            <a:ext cx="6400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148801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E9AF1"/>
          </a:solidFill>
          <a:ln w="12700">
            <a:solidFill>
              <a:srgbClr val="4E9A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9AF1"/>
          </a:solidFill>
          <a:ln w="12700">
            <a:solidFill>
              <a:srgbClr val="4E9A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3891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E9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804672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SQLite via DB Browser for SQLite  —  table name: no2_data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644844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SELECT basics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WHERE + ORDER BY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GROUP BY + aggregate functions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String functions — extract month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HAVING — filter aggregated groups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D2C6C0-10D4-C9CB-6BFB-51C32A4C5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283827F-A470-82DF-7A45-4BE51114A3A0}"/>
              </a:ext>
            </a:extLst>
          </p:cNvPr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E9AF1"/>
          </a:solidFill>
          <a:ln w="12700">
            <a:solidFill>
              <a:srgbClr val="4E9A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32E7918-6D44-C7BC-E07E-6E7233A0BC3B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9AF1"/>
          </a:solidFill>
          <a:ln w="12700">
            <a:solidFill>
              <a:srgbClr val="4E9A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B09D3E7-56A7-225D-7603-03274774E6EF}"/>
              </a:ext>
            </a:extLst>
          </p:cNvPr>
          <p:cNvSpPr/>
          <p:nvPr/>
        </p:nvSpPr>
        <p:spPr>
          <a:xfrm>
            <a:off x="2286001" y="1740938"/>
            <a:ext cx="4979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4E9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Code in….</a:t>
            </a:r>
            <a:endParaRPr lang="en-US" sz="6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E6BF437-D83E-E527-BBCE-A16D6CF00705}"/>
              </a:ext>
            </a:extLst>
          </p:cNvPr>
          <p:cNvSpPr/>
          <p:nvPr/>
        </p:nvSpPr>
        <p:spPr>
          <a:xfrm>
            <a:off x="3553240" y="2842194"/>
            <a:ext cx="244502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SQL!!</a:t>
            </a:r>
            <a:endParaRPr lang="en-US" sz="6400" dirty="0"/>
          </a:p>
        </p:txBody>
      </p:sp>
    </p:spTree>
    <p:extLst>
      <p:ext uri="{BB962C8B-B14F-4D97-AF65-F5344CB8AC3E}">
        <p14:creationId xmlns:p14="http://schemas.microsoft.com/office/powerpoint/2010/main" val="42656443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366529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0359" y="922775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457200" y="218695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Libraries: pandas  ·  matplotlib  ·  seaborn  ·  numpy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757685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Load &amp; inspect the data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Line chart — NO2 over time by site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Box plot — distribution by month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Bar chart — monthly average by site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Scatter plot — NO2 vs. AQI + correlation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EF7AB4-2F35-EEBF-FEFE-E194F4579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57F9C27-A58A-0EDA-4FE6-B81591810B92}"/>
              </a:ext>
            </a:extLst>
          </p:cNvPr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F493338-BA5E-AF62-8A44-E468D35D8845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2044854-F18D-0CD6-B1E0-7E7D4D137176}"/>
              </a:ext>
            </a:extLst>
          </p:cNvPr>
          <p:cNvSpPr/>
          <p:nvPr/>
        </p:nvSpPr>
        <p:spPr>
          <a:xfrm>
            <a:off x="1953039" y="2050542"/>
            <a:ext cx="523792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Code in…</a:t>
            </a:r>
            <a:endParaRPr lang="en-US" sz="6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C25AF2B-DD07-55B9-08C3-14E43CBE5C8E}"/>
              </a:ext>
            </a:extLst>
          </p:cNvPr>
          <p:cNvSpPr/>
          <p:nvPr/>
        </p:nvSpPr>
        <p:spPr>
          <a:xfrm>
            <a:off x="2650313" y="2727199"/>
            <a:ext cx="395310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Python!!</a:t>
            </a:r>
            <a:endParaRPr lang="en-US" sz="6400" dirty="0"/>
          </a:p>
        </p:txBody>
      </p:sp>
    </p:spTree>
    <p:extLst>
      <p:ext uri="{BB962C8B-B14F-4D97-AF65-F5344CB8AC3E}">
        <p14:creationId xmlns:p14="http://schemas.microsoft.com/office/powerpoint/2010/main" val="691759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729409" y="1602784"/>
            <a:ext cx="5039139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Files and Data Locations: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133061" y="2778036"/>
            <a:ext cx="7176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</a:t>
            </a:r>
            <a:r>
              <a:rPr lang="en-US" sz="14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</a:t>
            </a: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4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Kimformatics</a:t>
            </a: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4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Intro_Excel_SQL_Python_EnvironmentalInformatics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59E0F9-E295-D9A4-B260-F0807C142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BE2C139-D84B-6CDF-C66E-CE00D871C21A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D6A685A-FD3F-3CFD-71F6-3190E636CDFC}"/>
              </a:ext>
            </a:extLst>
          </p:cNvPr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4B24970-7AFC-82E0-2F98-0A86227F097C}"/>
              </a:ext>
            </a:extLst>
          </p:cNvPr>
          <p:cNvSpPr/>
          <p:nvPr/>
        </p:nvSpPr>
        <p:spPr>
          <a:xfrm>
            <a:off x="457200" y="3195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 Website: </a:t>
            </a:r>
            <a:endParaRPr lang="en-US" sz="32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640EBA6-98E7-C6C5-2722-9B846AC47D17}"/>
              </a:ext>
            </a:extLst>
          </p:cNvPr>
          <p:cNvSpPr/>
          <p:nvPr/>
        </p:nvSpPr>
        <p:spPr>
          <a:xfrm>
            <a:off x="646043" y="1186148"/>
            <a:ext cx="39756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>
                <a:solidFill>
                  <a:schemeClr val="bg1"/>
                </a:solidFill>
              </a:rPr>
              <a:t>LinkedIn: https://</a:t>
            </a:r>
            <a:r>
              <a:rPr lang="en-US" sz="1300" dirty="0" err="1">
                <a:solidFill>
                  <a:schemeClr val="bg1"/>
                </a:solidFill>
              </a:rPr>
              <a:t>www.linkedin.com</a:t>
            </a:r>
            <a:r>
              <a:rPr lang="en-US" sz="1300" dirty="0">
                <a:solidFill>
                  <a:schemeClr val="bg1"/>
                </a:solidFill>
              </a:rPr>
              <a:t>/in/</a:t>
            </a:r>
            <a:r>
              <a:rPr lang="en-US" sz="1300" dirty="0" err="1">
                <a:solidFill>
                  <a:schemeClr val="bg1"/>
                </a:solidFill>
              </a:rPr>
              <a:t>ddkimberly</a:t>
            </a:r>
            <a:r>
              <a:rPr lang="en-US" sz="1300" dirty="0">
                <a:solidFill>
                  <a:schemeClr val="bg1"/>
                </a:solidFill>
              </a:rPr>
              <a:t>/</a:t>
            </a: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79DA767-4564-843F-34D3-4F8051E628B5}"/>
              </a:ext>
            </a:extLst>
          </p:cNvPr>
          <p:cNvSpPr/>
          <p:nvPr/>
        </p:nvSpPr>
        <p:spPr>
          <a:xfrm>
            <a:off x="646043" y="1641062"/>
            <a:ext cx="383650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Threads: https://</a:t>
            </a:r>
            <a:r>
              <a:rPr lang="en-US" sz="13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www.threads.com</a:t>
            </a: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/@</a:t>
            </a:r>
            <a:r>
              <a:rPr lang="en-US" sz="13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dr.kimformatics</a:t>
            </a:r>
            <a:endParaRPr lang="en-US" sz="13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DE84074A-B258-7D99-8880-92F248FEACB6}"/>
              </a:ext>
            </a:extLst>
          </p:cNvPr>
          <p:cNvSpPr/>
          <p:nvPr/>
        </p:nvSpPr>
        <p:spPr>
          <a:xfrm>
            <a:off x="646043" y="2095976"/>
            <a:ext cx="359796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>
                <a:solidFill>
                  <a:schemeClr val="bg1"/>
                </a:solidFill>
              </a:rPr>
              <a:t>Substack: https://</a:t>
            </a:r>
            <a:r>
              <a:rPr lang="en-US" sz="1300" dirty="0" err="1">
                <a:solidFill>
                  <a:schemeClr val="bg1"/>
                </a:solidFill>
              </a:rPr>
              <a:t>substack.com</a:t>
            </a:r>
            <a:r>
              <a:rPr lang="en-US" sz="1300" dirty="0">
                <a:solidFill>
                  <a:schemeClr val="bg1"/>
                </a:solidFill>
              </a:rPr>
              <a:t>/@</a:t>
            </a:r>
            <a:r>
              <a:rPr lang="en-US" sz="1300" dirty="0" err="1">
                <a:solidFill>
                  <a:schemeClr val="bg1"/>
                </a:solidFill>
              </a:rPr>
              <a:t>kimformatics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C82C03BB-19C9-0A3F-1A6F-BFA0817FFF2E}"/>
              </a:ext>
            </a:extLst>
          </p:cNvPr>
          <p:cNvSpPr/>
          <p:nvPr/>
        </p:nvSpPr>
        <p:spPr>
          <a:xfrm>
            <a:off x="646043" y="2586752"/>
            <a:ext cx="40253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</a:t>
            </a:r>
            <a:r>
              <a:rPr lang="en-US" sz="14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www.youtube.com</a:t>
            </a: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/@kimformatics1</a:t>
            </a:r>
            <a:endParaRPr lang="en-US" sz="1400" dirty="0"/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71BC2FCE-4442-0226-6F02-81B7CFD5C5EA}"/>
              </a:ext>
            </a:extLst>
          </p:cNvPr>
          <p:cNvSpPr/>
          <p:nvPr/>
        </p:nvSpPr>
        <p:spPr>
          <a:xfrm>
            <a:off x="520148" y="52273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My Socials</a:t>
            </a:r>
            <a:endParaRPr lang="en-US" sz="32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E7F1489C-D482-C966-C72E-995B3BAE2B8A}"/>
              </a:ext>
            </a:extLst>
          </p:cNvPr>
          <p:cNvSpPr/>
          <p:nvPr/>
        </p:nvSpPr>
        <p:spPr>
          <a:xfrm>
            <a:off x="609600" y="3912903"/>
            <a:ext cx="402534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</a:t>
            </a:r>
            <a:r>
              <a:rPr lang="en-US" sz="14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kimformatics.com</a:t>
            </a: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513470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E0C46B-0D37-EB84-0F5E-18D7865B7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46ED7BF-A89F-0E28-8C76-3C436B1434C8}"/>
              </a:ext>
            </a:extLst>
          </p:cNvPr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E9AF1"/>
          </a:solidFill>
          <a:ln w="12700">
            <a:solidFill>
              <a:srgbClr val="4E9A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CE5E03D-3499-C64C-12AF-679A0FE52EF5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E9AF1"/>
          </a:solidFill>
          <a:ln w="12700">
            <a:solidFill>
              <a:srgbClr val="4E9A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CBD8C9-A67F-731D-4AB3-668149993FB9}"/>
              </a:ext>
            </a:extLst>
          </p:cNvPr>
          <p:cNvSpPr/>
          <p:nvPr/>
        </p:nvSpPr>
        <p:spPr>
          <a:xfrm>
            <a:off x="2529509" y="2388870"/>
            <a:ext cx="408498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4E9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you!!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83755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986</TotalTime>
  <Words>506</Words>
  <Application>Microsoft Macintosh PowerPoint</Application>
  <PresentationFormat>On-screen Show (16:9)</PresentationFormat>
  <Paragraphs>105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Excel, SQL &amp; Python — Alabama NO2 Workshop</dc:title>
  <dc:subject>PptxGenJS Presentation</dc:subject>
  <dc:creator>PptxGenJS</dc:creator>
  <cp:lastModifiedBy>Deas, Kimberly</cp:lastModifiedBy>
  <cp:revision>9</cp:revision>
  <dcterms:created xsi:type="dcterms:W3CDTF">2026-04-16T12:11:53Z</dcterms:created>
  <dcterms:modified xsi:type="dcterms:W3CDTF">2026-04-21T20:28:17Z</dcterms:modified>
</cp:coreProperties>
</file>