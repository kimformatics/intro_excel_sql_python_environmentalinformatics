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57" r:id="rId4"/>
    <p:sldId id="258" r:id="rId5"/>
    <p:sldId id="259" r:id="rId6"/>
    <p:sldId id="275" r:id="rId7"/>
    <p:sldId id="263" r:id="rId8"/>
    <p:sldId id="276" r:id="rId9"/>
    <p:sldId id="266" r:id="rId10"/>
    <p:sldId id="277" r:id="rId11"/>
    <p:sldId id="272" r:id="rId12"/>
    <p:sldId id="274" r:id="rId13"/>
    <p:sldId id="27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55"/>
    <p:restoredTop sz="77994"/>
  </p:normalViewPr>
  <p:slideViewPr>
    <p:cSldViewPr snapToGrid="0" snapToObjects="1">
      <p:cViewPr varScale="1">
        <p:scale>
          <a:sx n="128" d="100"/>
          <a:sy n="128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616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22EC-BF53-CE0A-46EA-F73C88CD4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DFCB6-8D36-0DD6-3CCF-D40D9CD6C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82E5A-53D1-8549-AFB2-B83D02F4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5599-5431-1E38-A7C7-E6B69BAFE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826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5776-C7F3-6818-1C9C-A9D1694C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441DA-8F1F-D4B1-A427-D4D46FDC5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13A84-1BF2-CD1A-6A1E-49FF30721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DBC98-C06D-A559-B144-345B6F4AA9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44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52F3-A227-BD0C-02FE-E08517375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30EB3-95BB-10BE-0684-A9D0B2E93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AFA51-4EA6-4EF5-9980-A99B0A3F0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59FBC-3A5A-76D2-E022-374A3D3EF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36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C16B-CEF3-CB09-A8E3-55ECBCD8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97ED16-3BD3-0D01-6FD9-660E1EA56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D3784-83D0-9784-A799-CE6047767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18EC8-4420-F528-B582-C48B5A2DC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3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C544-19DB-F99D-D1B9-B812D4A4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C7062-5DB4-92F5-ABF9-FEF9D10E2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5340F-6473-BEEA-EF03-7D3CF9495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CB60E-C09C-EA64-9533-BB762DC32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04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1309-96B0-894F-2CB8-BB77BE68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73C78-D9C0-8DE9-49E2-796C06401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BE3E7-4298-0423-F919-01513805A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D9DB0-D9E8-83F4-1679-1E4F483AC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6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199" y="731520"/>
            <a:ext cx="756138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 Excel,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&amp; Python for Environmental Informatics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1.5-Hour Hands-On, Live Coding Workshop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5704114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Kimberly Deas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Postdoctoral Fellow, Data Science and Analytics, Earth, Environment and Equity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Principal Informaticist, AIAD Consulting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MS Environmental Engineering student, Johns Hopkins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41C60-A736-7B62-B480-440F9994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1A829A-57F4-B398-7191-F56F56557B9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696ABA-37B2-BA0D-57E5-8DCD0B93E478}"/>
              </a:ext>
            </a:extLst>
          </p:cNvPr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71C9FD-9B41-9AB2-B57B-65478B36D00D}"/>
              </a:ext>
            </a:extLst>
          </p:cNvPr>
          <p:cNvSpPr/>
          <p:nvPr/>
        </p:nvSpPr>
        <p:spPr>
          <a:xfrm>
            <a:off x="406994" y="1991780"/>
            <a:ext cx="2196047" cy="607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NO2 Air Quality Dataset  ·  2024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2351904-CC58-E72D-5F86-E902060F7860}"/>
              </a:ext>
            </a:extLst>
          </p:cNvPr>
          <p:cNvSpPr/>
          <p:nvPr/>
        </p:nvSpPr>
        <p:spPr>
          <a:xfrm>
            <a:off x="2832641" y="669798"/>
            <a:ext cx="3315661" cy="3803904"/>
          </a:xfrm>
          <a:prstGeom prst="rect">
            <a:avLst/>
          </a:prstGeom>
          <a:solidFill>
            <a:srgbClr val="1A2B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8E91561-C604-7837-3066-727DEB28B739}"/>
              </a:ext>
            </a:extLst>
          </p:cNvPr>
          <p:cNvSpPr/>
          <p:nvPr/>
        </p:nvSpPr>
        <p:spPr>
          <a:xfrm>
            <a:off x="3210312" y="944921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488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1A8D86-93EE-E177-9C99-88F9DF3EC770}"/>
              </a:ext>
            </a:extLst>
          </p:cNvPr>
          <p:cNvSpPr/>
          <p:nvPr/>
        </p:nvSpPr>
        <p:spPr>
          <a:xfrm>
            <a:off x="3291840" y="1446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B648DFC-2CA0-603B-F915-AD5151351E49}"/>
              </a:ext>
            </a:extLst>
          </p:cNvPr>
          <p:cNvSpPr/>
          <p:nvPr/>
        </p:nvSpPr>
        <p:spPr>
          <a:xfrm>
            <a:off x="3291840" y="171839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147F92-FF74-4664-94C1-F5E83300C90A}"/>
              </a:ext>
            </a:extLst>
          </p:cNvPr>
          <p:cNvSpPr/>
          <p:nvPr/>
        </p:nvSpPr>
        <p:spPr>
          <a:xfrm>
            <a:off x="3291840" y="2216747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Sites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AA46A2A-13F1-92E3-D3E2-4076F4DF9DEA}"/>
              </a:ext>
            </a:extLst>
          </p:cNvPr>
          <p:cNvSpPr/>
          <p:nvPr/>
        </p:nvSpPr>
        <p:spPr>
          <a:xfrm>
            <a:off x="3291840" y="2585793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2D17524-B480-3A91-04D1-47B3F08ACF99}"/>
              </a:ext>
            </a:extLst>
          </p:cNvPr>
          <p:cNvSpPr/>
          <p:nvPr/>
        </p:nvSpPr>
        <p:spPr>
          <a:xfrm>
            <a:off x="3291840" y="3169131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F1FDD4-AED0-CECB-F576-119DDDC438E2}"/>
              </a:ext>
            </a:extLst>
          </p:cNvPr>
          <p:cNvSpPr/>
          <p:nvPr/>
        </p:nvSpPr>
        <p:spPr>
          <a:xfrm>
            <a:off x="3291840" y="3480027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3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2F7CA55-B8FA-402A-09C5-A8798BCE68F1}"/>
              </a:ext>
            </a:extLst>
          </p:cNvPr>
          <p:cNvSpPr/>
          <p:nvPr/>
        </p:nvSpPr>
        <p:spPr>
          <a:xfrm>
            <a:off x="3291840" y="4027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ppb NAAQS Limit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F216D33-DD6A-8455-B6EB-946E03AE9B86}"/>
              </a:ext>
            </a:extLst>
          </p:cNvPr>
          <p:cNvSpPr/>
          <p:nvPr/>
        </p:nvSpPr>
        <p:spPr>
          <a:xfrm>
            <a:off x="6607501" y="1883665"/>
            <a:ext cx="1959429" cy="946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Jefferson County, Alabama  ·  Jan – Sep 2024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029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7373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566160"/>
          </a:xfrm>
          <a:prstGeom prst="rect">
            <a:avLst/>
          </a:prstGeom>
          <a:solidFill>
            <a:srgbClr val="1A2B4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orient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+ format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/ MIN / MAX / COUNTIF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1A2B40"/>
          </a:solidFill>
          <a:ln w="1905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1298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22128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basics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151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+ ORDER BY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0175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aggregates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functions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188720"/>
            <a:ext cx="2651760" cy="3566160"/>
          </a:xfrm>
          <a:prstGeom prst="rect">
            <a:avLst/>
          </a:prstGeom>
          <a:solidFill>
            <a:srgbClr val="1A2B40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1188720"/>
            <a:ext cx="265176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0" y="12984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22128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6151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0175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41985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2219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"/>
            <a:ext cx="9144000" cy="1005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NO2 Air Quality  ·  EPA AQS  ·  2024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4937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1225296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date (Jan 1 – Sep 9, 2024)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55648"/>
            <a:ext cx="841248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4864" cy="4937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9222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Max NO2 Concentration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792224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variable — parts per billion (ppb)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54864" cy="4937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3591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AQI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359152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Index calculated from the NO2 reading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841248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54864" cy="4937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Site Name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926080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Birmingham  or  Arkadelphia/Near Road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54864" cy="4937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4930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493008"/>
            <a:ext cx="5120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Jefferson County (all 488 records)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NAAQS 1-hour standard: 53 ppb — referenced as a threshold throughout all three tools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2789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10326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224279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&amp; orient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Freeze panes &amp; format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Summary stats (AVERAGE, MIN, MAX, COUNTIF)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Pivot table — compare sites, seasons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Line chart — NO2 over time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Dashboard – 4 images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E2519-0775-74F6-4195-D014DF05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0D37E2-A150-F78F-F9F1-D5DC5B7B9C1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915DAA-47A6-0A0C-A828-D8927A42007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980B76-F213-6835-00DE-42FAA50310BE}"/>
              </a:ext>
            </a:extLst>
          </p:cNvPr>
          <p:cNvSpPr/>
          <p:nvPr/>
        </p:nvSpPr>
        <p:spPr>
          <a:xfrm>
            <a:off x="2117035" y="1730501"/>
            <a:ext cx="490993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Code in…</a:t>
            </a:r>
            <a:endParaRPr lang="en-US" sz="6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21DB06-E2DA-A08A-93C6-ADAE6CC0A4A7}"/>
              </a:ext>
            </a:extLst>
          </p:cNvPr>
          <p:cNvSpPr/>
          <p:nvPr/>
        </p:nvSpPr>
        <p:spPr>
          <a:xfrm>
            <a:off x="3066420" y="2674618"/>
            <a:ext cx="312088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Excel!!</a:t>
            </a:r>
            <a:endParaRPr lang="en-US" sz="6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3526E-276D-6919-E004-DADCA1029EA2}"/>
              </a:ext>
            </a:extLst>
          </p:cNvPr>
          <p:cNvSpPr/>
          <p:nvPr/>
        </p:nvSpPr>
        <p:spPr>
          <a:xfrm>
            <a:off x="457200" y="2224279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48801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SQLite via DB Browser for SQLite  —  table name: no2_data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44844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 basics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WHERE + ORDER BY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GROUP BY + aggregate functions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String functions — extract month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HAVING — filter aggregated groups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C6C0-10D4-C9CB-6BFB-51C32A4C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83827F-A470-82DF-7A45-4BE51114A3A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2E7918-6D44-C7BC-E07E-6E7233A0BC3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09D3E7-56A7-225D-7603-03274774E6EF}"/>
              </a:ext>
            </a:extLst>
          </p:cNvPr>
          <p:cNvSpPr/>
          <p:nvPr/>
        </p:nvSpPr>
        <p:spPr>
          <a:xfrm>
            <a:off x="2286001" y="1740938"/>
            <a:ext cx="497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Code in….</a:t>
            </a:r>
            <a:endParaRPr lang="en-US" sz="6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6BF437-D83E-E527-BBCE-A16D6CF00705}"/>
              </a:ext>
            </a:extLst>
          </p:cNvPr>
          <p:cNvSpPr/>
          <p:nvPr/>
        </p:nvSpPr>
        <p:spPr>
          <a:xfrm>
            <a:off x="3553240" y="2842194"/>
            <a:ext cx="244502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SQL!!</a:t>
            </a: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426564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652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0359" y="922775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18695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  ·  matplotlib  ·  seaborn  ·  numpy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57685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&amp; inspect the data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Line chart — NO2 over time by site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Box plot — distribution by month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Bar chart — monthly average by site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Scatter plot — NO2 vs. AQI + correlation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F7AB4-2F35-EEBF-FEFE-E194F457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7F9C27-A58A-0EDA-4FE6-B81591810B9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493338-BA5E-AF62-8A44-E468D35D884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044854-F18D-0CD6-B1E0-7E7D4D137176}"/>
              </a:ext>
            </a:extLst>
          </p:cNvPr>
          <p:cNvSpPr/>
          <p:nvPr/>
        </p:nvSpPr>
        <p:spPr>
          <a:xfrm>
            <a:off x="1953039" y="2050542"/>
            <a:ext cx="523792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Code in…</a:t>
            </a:r>
            <a:endParaRPr lang="en-US" sz="6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25AF2B-DD07-55B9-08C3-14E43CBE5C8E}"/>
              </a:ext>
            </a:extLst>
          </p:cNvPr>
          <p:cNvSpPr/>
          <p:nvPr/>
        </p:nvSpPr>
        <p:spPr>
          <a:xfrm>
            <a:off x="2650313" y="2727199"/>
            <a:ext cx="395310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Python!!</a:t>
            </a: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69175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29409" y="1602784"/>
            <a:ext cx="5039139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and Data Locations: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133061" y="2778036"/>
            <a:ext cx="7176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Kimformatics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Intro_Excel_SQL_Python_EnvironmentalInformatics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9E0F9-E295-D9A4-B260-F0807C14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E2C139-D84B-6CDF-C66E-CE00D871C21A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6A685A-FD3F-3CFD-71F6-3190E636CDFC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B24970-7AFC-82E0-2F98-0A86227F097C}"/>
              </a:ext>
            </a:extLst>
          </p:cNvPr>
          <p:cNvSpPr/>
          <p:nvPr/>
        </p:nvSpPr>
        <p:spPr>
          <a:xfrm>
            <a:off x="457200" y="3195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Website: </a:t>
            </a:r>
            <a:endParaRPr lang="en-US" sz="3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0EBA6-98E7-C6C5-2722-9B846AC47D17}"/>
              </a:ext>
            </a:extLst>
          </p:cNvPr>
          <p:cNvSpPr/>
          <p:nvPr/>
        </p:nvSpPr>
        <p:spPr>
          <a:xfrm>
            <a:off x="646043" y="1186148"/>
            <a:ext cx="3975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LinkedIn: https://</a:t>
            </a:r>
            <a:r>
              <a:rPr lang="en-US" sz="1300" dirty="0" err="1">
                <a:solidFill>
                  <a:schemeClr val="bg1"/>
                </a:solidFill>
              </a:rPr>
              <a:t>www.linkedin.com</a:t>
            </a:r>
            <a:r>
              <a:rPr lang="en-US" sz="1300" dirty="0">
                <a:solidFill>
                  <a:schemeClr val="bg1"/>
                </a:solidFill>
              </a:rPr>
              <a:t>/in/</a:t>
            </a:r>
            <a:r>
              <a:rPr lang="en-US" sz="1300" dirty="0" err="1">
                <a:solidFill>
                  <a:schemeClr val="bg1"/>
                </a:solidFill>
              </a:rPr>
              <a:t>ddkimberly</a:t>
            </a:r>
            <a:r>
              <a:rPr lang="en-US" sz="13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9DA767-4564-843F-34D3-4F8051E628B5}"/>
              </a:ext>
            </a:extLst>
          </p:cNvPr>
          <p:cNvSpPr/>
          <p:nvPr/>
        </p:nvSpPr>
        <p:spPr>
          <a:xfrm>
            <a:off x="646043" y="1641062"/>
            <a:ext cx="38365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Threads: https://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www.threads.com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/@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dr.kimformatics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E84074A-B258-7D99-8880-92F248FEACB6}"/>
              </a:ext>
            </a:extLst>
          </p:cNvPr>
          <p:cNvSpPr/>
          <p:nvPr/>
        </p:nvSpPr>
        <p:spPr>
          <a:xfrm>
            <a:off x="646043" y="2095976"/>
            <a:ext cx="359796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Substack: https://</a:t>
            </a:r>
            <a:r>
              <a:rPr lang="en-US" sz="1300" dirty="0" err="1">
                <a:solidFill>
                  <a:schemeClr val="bg1"/>
                </a:solidFill>
              </a:rPr>
              <a:t>substack.com</a:t>
            </a:r>
            <a:r>
              <a:rPr lang="en-US" sz="1300" dirty="0">
                <a:solidFill>
                  <a:schemeClr val="bg1"/>
                </a:solidFill>
              </a:rPr>
              <a:t>/@</a:t>
            </a:r>
            <a:r>
              <a:rPr lang="en-US" sz="1300" dirty="0" err="1">
                <a:solidFill>
                  <a:schemeClr val="bg1"/>
                </a:solidFill>
              </a:rPr>
              <a:t>kimformatics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82C03BB-19C9-0A3F-1A6F-BFA0817FFF2E}"/>
              </a:ext>
            </a:extLst>
          </p:cNvPr>
          <p:cNvSpPr/>
          <p:nvPr/>
        </p:nvSpPr>
        <p:spPr>
          <a:xfrm>
            <a:off x="646043" y="2586752"/>
            <a:ext cx="40253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www.youtube.com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/@kimformatics1</a:t>
            </a:r>
            <a:endParaRPr lang="en-US" sz="1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1BC2FCE-4442-0226-6F02-81B7CFD5C5EA}"/>
              </a:ext>
            </a:extLst>
          </p:cNvPr>
          <p:cNvSpPr/>
          <p:nvPr/>
        </p:nvSpPr>
        <p:spPr>
          <a:xfrm>
            <a:off x="520148" y="5227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Socials</a:t>
            </a:r>
            <a:endParaRPr lang="en-US" sz="3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7F1489C-D482-C966-C72E-995B3BAE2B8A}"/>
              </a:ext>
            </a:extLst>
          </p:cNvPr>
          <p:cNvSpPr/>
          <p:nvPr/>
        </p:nvSpPr>
        <p:spPr>
          <a:xfrm>
            <a:off x="609600" y="3912903"/>
            <a:ext cx="40253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kimformatics.com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5134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E0C46B-0D37-EB84-0F5E-18D7865B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6ED7BF-A89F-0E28-8C76-3C436B1434C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E5E03D-3499-C64C-12AF-679A0FE52EF5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CBD8C9-A67F-731D-4AB3-668149993FB9}"/>
              </a:ext>
            </a:extLst>
          </p:cNvPr>
          <p:cNvSpPr/>
          <p:nvPr/>
        </p:nvSpPr>
        <p:spPr>
          <a:xfrm>
            <a:off x="2529509" y="2388870"/>
            <a:ext cx="40849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68375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509</Words>
  <Application>Microsoft Macintosh PowerPoint</Application>
  <PresentationFormat>On-screen Show (16:9)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Excel, SQL &amp; Python — Alabama NO2 Workshop</dc:title>
  <dc:subject>PptxGenJS Presentation</dc:subject>
  <dc:creator>PptxGenJS</dc:creator>
  <cp:lastModifiedBy>Deas, Kimberly</cp:lastModifiedBy>
  <cp:revision>8</cp:revision>
  <dcterms:created xsi:type="dcterms:W3CDTF">2026-04-16T12:11:53Z</dcterms:created>
  <dcterms:modified xsi:type="dcterms:W3CDTF">2026-04-21T20:23:14Z</dcterms:modified>
</cp:coreProperties>
</file>